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5143500" type="screen16x9"/>
  <p:notesSz cx="5143500" cy="9144000"/>
  <p:embeddedFontLst>
    <p:embeddedFont>
      <p:font typeface="DM Sans Medium" pitchFamily="2" charset="0"/>
      <p:regular r:id="rId8"/>
    </p:embeddedFont>
    <p:embeddedFont>
      <p:font typeface="Inter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1460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85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68" y="933822"/>
            <a:ext cx="1523554" cy="15235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42721" y="1080138"/>
            <a:ext cx="6282258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45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Enhancing Wazuh SIEM with Cross-Layer Security and AI-based Anomaly Detection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819683" y="2843669"/>
            <a:ext cx="22500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Group Members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19684" y="3150179"/>
            <a:ext cx="4443665" cy="167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Hamad Ali — F22605010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Awais — F22605035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Amir Ali — F22605044</a:t>
            </a:r>
            <a:endParaRPr lang="en-US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Zohaib Arif — F22605046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994052" y="2859086"/>
            <a:ext cx="22500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Supervisor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5994053" y="3165597"/>
            <a:ext cx="2653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Maj. Babar Yousaf</a:t>
            </a:r>
          </a:p>
          <a:p>
            <a:pPr marL="0" indent="0" algn="l">
              <a:lnSpc>
                <a:spcPts val="1750"/>
              </a:lnSpc>
              <a:buNone/>
            </a:pPr>
            <a:endParaRPr lang="en-US" dirty="0"/>
          </a:p>
          <a:p>
            <a:pPr marL="0" indent="0" algn="l">
              <a:lnSpc>
                <a:spcPts val="1750"/>
              </a:lnSpc>
              <a:buNone/>
            </a:pPr>
            <a:endParaRPr lang="en-US" dirty="0">
              <a:solidFill>
                <a:srgbClr val="161613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</a:t>
            </a:r>
            <a:r>
              <a:rPr lang="en-US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Saima Yasmeen</a:t>
            </a:r>
          </a:p>
          <a:p>
            <a:pPr marL="0" indent="0" algn="l">
              <a:lnSpc>
                <a:spcPts val="1750"/>
              </a:lnSpc>
              <a:buNone/>
            </a:pPr>
            <a:endParaRPr lang="en-US" dirty="0">
              <a:solidFill>
                <a:srgbClr val="161613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1750"/>
              </a:lnSpc>
              <a:buNone/>
            </a:pPr>
            <a:endParaRPr lang="en-US" dirty="0">
              <a:solidFill>
                <a:srgbClr val="161613"/>
              </a:solidFill>
              <a:latin typeface="Inter" pitchFamily="34" charset="0"/>
              <a:ea typeface="Inter" pitchFamily="34" charset="-122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Muhammad Faheem</a:t>
            </a:r>
            <a:endParaRPr lang="en-US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1634997E-0A81-65C4-8732-F8BC3263A0C3}"/>
              </a:ext>
            </a:extLst>
          </p:cNvPr>
          <p:cNvSpPr/>
          <p:nvPr/>
        </p:nvSpPr>
        <p:spPr>
          <a:xfrm>
            <a:off x="5994052" y="3563341"/>
            <a:ext cx="22500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Co-Supervisor</a:t>
            </a:r>
            <a:endParaRPr lang="en-US" sz="2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9187B6D-C962-B329-620C-F709A32FF84F}"/>
              </a:ext>
            </a:extLst>
          </p:cNvPr>
          <p:cNvSpPr/>
          <p:nvPr/>
        </p:nvSpPr>
        <p:spPr>
          <a:xfrm>
            <a:off x="5994051" y="4203344"/>
            <a:ext cx="22500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Industry Supervisor</a:t>
            </a: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344CD8-60F4-02C6-75B7-CD9A159B5CF9}"/>
              </a:ext>
            </a:extLst>
          </p:cNvPr>
          <p:cNvSpPr/>
          <p:nvPr/>
        </p:nvSpPr>
        <p:spPr>
          <a:xfrm>
            <a:off x="7995684" y="4827181"/>
            <a:ext cx="1148316" cy="316319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428179"/>
            <a:ext cx="3421931" cy="20531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5746" y="473050"/>
            <a:ext cx="23037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Scope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305746" y="854571"/>
            <a:ext cx="4244801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anomaly detection for logs and telemetry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Cross-layer security monitoring: Network, Host, Cloud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threat detection, correlation, and alerting</a:t>
            </a:r>
            <a:endParaRPr lang="en-US" sz="105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scoring engine and alert visualization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305746" y="1754684"/>
            <a:ext cx="4244801" cy="8632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305746" y="1897261"/>
            <a:ext cx="23037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Tasks Completed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305746" y="2278782"/>
            <a:ext cx="42448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and monitoring milestones achieved: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066" y="2691780"/>
            <a:ext cx="287908" cy="2879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066" y="3096667"/>
            <a:ext cx="167721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Wazuh SIEM Deployment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0415" y="2691780"/>
            <a:ext cx="287908" cy="2879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0415" y="3096667"/>
            <a:ext cx="151618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Kibana Dashboard </a:t>
            </a:r>
            <a:r>
              <a:rPr lang="en-US" sz="1100" dirty="0" err="1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Visulization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066" y="3463751"/>
            <a:ext cx="287908" cy="2879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8066" y="3868638"/>
            <a:ext cx="156180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Anomaly Detection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0415" y="3463751"/>
            <a:ext cx="287908" cy="2879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30415" y="3868638"/>
            <a:ext cx="174039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Isolation/Random Forest Detection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066" y="4235723"/>
            <a:ext cx="287908" cy="2879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98066" y="4640610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 Correlation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0415" y="4235723"/>
            <a:ext cx="287908" cy="28790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630415" y="4640610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Risk Scoring &amp; Alerts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D11836-1344-016B-00D7-A84A9ECA35F5}"/>
              </a:ext>
            </a:extLst>
          </p:cNvPr>
          <p:cNvSpPr/>
          <p:nvPr/>
        </p:nvSpPr>
        <p:spPr>
          <a:xfrm>
            <a:off x="7995684" y="4827181"/>
            <a:ext cx="1148316" cy="316319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4421" y="512118"/>
            <a:ext cx="221508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Workflow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074" y="957932"/>
            <a:ext cx="5917853" cy="222059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6929" y="1523556"/>
            <a:ext cx="305673" cy="3056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94593" y="2553483"/>
            <a:ext cx="892565" cy="34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Alerts</a:t>
            </a:r>
            <a:endParaRPr lang="en-US" sz="10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7879" y="1524129"/>
            <a:ext cx="305673" cy="30567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69717" y="2639453"/>
            <a:ext cx="892565" cy="17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Risk Scoring</a:t>
            </a:r>
            <a:endParaRPr lang="en-US" sz="10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29116" y="1524129"/>
            <a:ext cx="305673" cy="30567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150954" y="2639453"/>
            <a:ext cx="892565" cy="17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Models</a:t>
            </a:r>
            <a:endParaRPr lang="en-US" sz="10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10353" y="1524129"/>
            <a:ext cx="305673" cy="30567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032191" y="2639453"/>
            <a:ext cx="892565" cy="17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Wazuh SIEM</a:t>
            </a:r>
            <a:endParaRPr lang="en-US" sz="10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5477" y="1524129"/>
            <a:ext cx="305673" cy="30567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888974" y="2553483"/>
            <a:ext cx="892565" cy="34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Logs Collection</a:t>
            </a: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1515145" y="2936156"/>
            <a:ext cx="6113711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endParaRPr lang="en-US" sz="650" dirty="0"/>
          </a:p>
        </p:txBody>
      </p:sp>
      <p:sp>
        <p:nvSpPr>
          <p:cNvPr id="15" name="Shape 7"/>
          <p:cNvSpPr/>
          <p:nvPr/>
        </p:nvSpPr>
        <p:spPr>
          <a:xfrm>
            <a:off x="1515145" y="3361730"/>
            <a:ext cx="2000994" cy="721519"/>
          </a:xfrm>
          <a:prstGeom prst="roundRect">
            <a:avLst>
              <a:gd name="adj" fmla="val 6337"/>
            </a:avLst>
          </a:prstGeom>
          <a:solidFill>
            <a:srgbClr val="F9F8F5"/>
          </a:solidFill>
          <a:ln w="9525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Shape 8"/>
          <p:cNvSpPr/>
          <p:nvPr/>
        </p:nvSpPr>
        <p:spPr>
          <a:xfrm>
            <a:off x="1515145" y="3352205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7" name="Shape 9"/>
          <p:cNvSpPr/>
          <p:nvPr/>
        </p:nvSpPr>
        <p:spPr>
          <a:xfrm>
            <a:off x="2382738" y="3228826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2510" y="3308598"/>
            <a:ext cx="106263" cy="10626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613222" y="3583186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Logs Collection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1613222" y="3754785"/>
            <a:ext cx="180483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Netflow, firewall, host agents, cloud audit logs</a:t>
            </a:r>
            <a:endParaRPr lang="en-US" sz="800" dirty="0"/>
          </a:p>
        </p:txBody>
      </p:sp>
      <p:sp>
        <p:nvSpPr>
          <p:cNvPr id="21" name="Shape 12"/>
          <p:cNvSpPr/>
          <p:nvPr/>
        </p:nvSpPr>
        <p:spPr>
          <a:xfrm>
            <a:off x="3571503" y="3361730"/>
            <a:ext cx="2000994" cy="721519"/>
          </a:xfrm>
          <a:prstGeom prst="roundRect">
            <a:avLst>
              <a:gd name="adj" fmla="val 6337"/>
            </a:avLst>
          </a:prstGeom>
          <a:solidFill>
            <a:srgbClr val="F9F8F5"/>
          </a:solidFill>
          <a:ln w="9525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2" name="Shape 13"/>
          <p:cNvSpPr/>
          <p:nvPr/>
        </p:nvSpPr>
        <p:spPr>
          <a:xfrm>
            <a:off x="3571503" y="3352205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3" name="Shape 14"/>
          <p:cNvSpPr/>
          <p:nvPr/>
        </p:nvSpPr>
        <p:spPr>
          <a:xfrm>
            <a:off x="4439096" y="3228826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18868" y="3308598"/>
            <a:ext cx="106263" cy="10626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669581" y="3583186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Wazuh Processing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3669581" y="3754785"/>
            <a:ext cx="180483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Normalization, enrichment, correlation rules</a:t>
            </a:r>
            <a:endParaRPr lang="en-US" sz="800" dirty="0"/>
          </a:p>
        </p:txBody>
      </p:sp>
      <p:sp>
        <p:nvSpPr>
          <p:cNvPr id="27" name="Shape 17"/>
          <p:cNvSpPr/>
          <p:nvPr/>
        </p:nvSpPr>
        <p:spPr>
          <a:xfrm>
            <a:off x="5627861" y="3361730"/>
            <a:ext cx="2000994" cy="721519"/>
          </a:xfrm>
          <a:prstGeom prst="roundRect">
            <a:avLst>
              <a:gd name="adj" fmla="val 6337"/>
            </a:avLst>
          </a:prstGeom>
          <a:solidFill>
            <a:srgbClr val="F9F8F5"/>
          </a:solidFill>
          <a:ln w="9525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" name="Shape 18"/>
          <p:cNvSpPr/>
          <p:nvPr/>
        </p:nvSpPr>
        <p:spPr>
          <a:xfrm>
            <a:off x="5627861" y="3352205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9" name="Shape 19"/>
          <p:cNvSpPr/>
          <p:nvPr/>
        </p:nvSpPr>
        <p:spPr>
          <a:xfrm>
            <a:off x="6495455" y="3228826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75227" y="3308598"/>
            <a:ext cx="106263" cy="10626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725939" y="3583186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Models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5725939" y="3754785"/>
            <a:ext cx="180483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and Isolation Forest for classification for anomaly scoring</a:t>
            </a:r>
            <a:endParaRPr lang="en-US" sz="800" dirty="0"/>
          </a:p>
        </p:txBody>
      </p:sp>
      <p:sp>
        <p:nvSpPr>
          <p:cNvPr id="33" name="Shape 22"/>
          <p:cNvSpPr/>
          <p:nvPr/>
        </p:nvSpPr>
        <p:spPr>
          <a:xfrm>
            <a:off x="1515145" y="4271516"/>
            <a:ext cx="3029173" cy="606326"/>
          </a:xfrm>
          <a:prstGeom prst="roundRect">
            <a:avLst>
              <a:gd name="adj" fmla="val 7540"/>
            </a:avLst>
          </a:prstGeom>
          <a:solidFill>
            <a:srgbClr val="F9F8F5"/>
          </a:solidFill>
          <a:ln w="9525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4" name="Shape 23"/>
          <p:cNvSpPr/>
          <p:nvPr/>
        </p:nvSpPr>
        <p:spPr>
          <a:xfrm>
            <a:off x="1515145" y="4261991"/>
            <a:ext cx="3029173" cy="38100"/>
          </a:xfrm>
          <a:prstGeom prst="roundRect">
            <a:avLst>
              <a:gd name="adj" fmla="val 34884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5" name="Shape 24"/>
          <p:cNvSpPr/>
          <p:nvPr/>
        </p:nvSpPr>
        <p:spPr>
          <a:xfrm>
            <a:off x="2896791" y="4138612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76563" y="4218384"/>
            <a:ext cx="106263" cy="106263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613222" y="4492972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613222" y="4664571"/>
            <a:ext cx="283301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score mapped to LOW / MEDIUM / HIGH</a:t>
            </a:r>
            <a:endParaRPr lang="en-US" sz="800" dirty="0"/>
          </a:p>
        </p:txBody>
      </p:sp>
      <p:sp>
        <p:nvSpPr>
          <p:cNvPr id="39" name="Shape 27"/>
          <p:cNvSpPr/>
          <p:nvPr/>
        </p:nvSpPr>
        <p:spPr>
          <a:xfrm>
            <a:off x="4599682" y="4271516"/>
            <a:ext cx="3029173" cy="606326"/>
          </a:xfrm>
          <a:prstGeom prst="roundRect">
            <a:avLst>
              <a:gd name="adj" fmla="val 7540"/>
            </a:avLst>
          </a:prstGeom>
          <a:solidFill>
            <a:srgbClr val="F9F8F5"/>
          </a:solidFill>
          <a:ln w="9525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0" name="Shape 28"/>
          <p:cNvSpPr/>
          <p:nvPr/>
        </p:nvSpPr>
        <p:spPr>
          <a:xfrm>
            <a:off x="4599682" y="4261991"/>
            <a:ext cx="3029173" cy="38100"/>
          </a:xfrm>
          <a:prstGeom prst="roundRect">
            <a:avLst>
              <a:gd name="adj" fmla="val 34884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1" name="Shape 29"/>
          <p:cNvSpPr/>
          <p:nvPr/>
        </p:nvSpPr>
        <p:spPr>
          <a:xfrm>
            <a:off x="5981328" y="4138612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US" sz="200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61100" y="4218384"/>
            <a:ext cx="106263" cy="106263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4697760" y="4492972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Alerts</a:t>
            </a:r>
            <a:endParaRPr lang="en-US" sz="900" dirty="0"/>
          </a:p>
        </p:txBody>
      </p:sp>
      <p:sp>
        <p:nvSpPr>
          <p:cNvPr id="44" name="Text 31"/>
          <p:cNvSpPr/>
          <p:nvPr/>
        </p:nvSpPr>
        <p:spPr>
          <a:xfrm>
            <a:off x="4697760" y="4664571"/>
            <a:ext cx="283301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alerts with drill-down and suggested response</a:t>
            </a:r>
            <a:endParaRPr lang="en-US" sz="8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111D21-4CAE-6CFF-1722-83F18E7560CB}"/>
              </a:ext>
            </a:extLst>
          </p:cNvPr>
          <p:cNvSpPr/>
          <p:nvPr/>
        </p:nvSpPr>
        <p:spPr>
          <a:xfrm>
            <a:off x="7995684" y="4827181"/>
            <a:ext cx="1148316" cy="316319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5223" y="264899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Preview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604855" y="3771675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Current Status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04855" y="4013983"/>
            <a:ext cx="3609291" cy="296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Completed — core pipeline validated</a:t>
            </a:r>
            <a:endParaRPr lang="en-US" sz="120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Simulated lab Environment using multiple VM’s</a:t>
            </a:r>
          </a:p>
        </p:txBody>
      </p:sp>
      <p:sp>
        <p:nvSpPr>
          <p:cNvPr id="13" name="Shape 7"/>
          <p:cNvSpPr/>
          <p:nvPr/>
        </p:nvSpPr>
        <p:spPr>
          <a:xfrm rot="16200000">
            <a:off x="3688584" y="4200397"/>
            <a:ext cx="1518311" cy="45719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4952692" y="3644223"/>
            <a:ext cx="200100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858970" y="3921598"/>
            <a:ext cx="3680175" cy="77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61613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Cloud-native deployment and autoscaling</a:t>
            </a:r>
            <a:endParaRPr lang="en-US" sz="1200" dirty="0">
              <a:latin typeface="Inter" panose="020B0604020202020204" charset="0"/>
              <a:ea typeface="Inter" panose="020B0604020202020204" charset="0"/>
            </a:endParaRPr>
          </a:p>
          <a:p>
            <a:pPr marL="228600" indent="-228600" algn="l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61613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Automated containment &amp; response</a:t>
            </a:r>
            <a:endParaRPr lang="en-US" sz="1200" dirty="0">
              <a:latin typeface="Inter" panose="020B0604020202020204" charset="0"/>
              <a:ea typeface="Inter" panose="020B0604020202020204" charset="0"/>
            </a:endParaRPr>
          </a:p>
          <a:p>
            <a:pPr marL="228600" indent="-228600" algn="l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61613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Enrich feeds with threat intelligence</a:t>
            </a:r>
            <a:endParaRPr lang="en-US" sz="1200" dirty="0">
              <a:latin typeface="Inter" panose="020B0604020202020204" charset="0"/>
              <a:ea typeface="Inter" panose="020B0604020202020204" charset="0"/>
            </a:endParaRPr>
          </a:p>
          <a:p>
            <a:pPr marL="228600" indent="-228600" algn="l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61613"/>
                </a:solidFill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SOC automation &amp; runbooks</a:t>
            </a:r>
            <a:endParaRPr lang="en-US" sz="1200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D82642-426B-19E4-14EF-92AAB7664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55" y="772196"/>
            <a:ext cx="7685770" cy="26167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2B8BC30-40D9-9328-A533-903ED823935E}"/>
              </a:ext>
            </a:extLst>
          </p:cNvPr>
          <p:cNvSpPr/>
          <p:nvPr/>
        </p:nvSpPr>
        <p:spPr>
          <a:xfrm>
            <a:off x="7995684" y="4827181"/>
            <a:ext cx="1148316" cy="316319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0642" y="660073"/>
            <a:ext cx="2001940" cy="40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32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SDGs</a:t>
            </a:r>
            <a:r>
              <a:rPr lang="en-US" sz="20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endParaRPr lang="en-US" sz="2000" b="1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92500" y="1278285"/>
            <a:ext cx="2359000" cy="235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5151" y="3077394"/>
            <a:ext cx="2359000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05151" y="3467174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endParaRPr lang="en-US" sz="55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1852" y="1278285"/>
            <a:ext cx="2359000" cy="235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1852" y="3077394"/>
            <a:ext cx="2359000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141852" y="3467174"/>
            <a:ext cx="235900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endParaRPr lang="en-US" sz="550" dirty="0"/>
          </a:p>
        </p:txBody>
      </p:sp>
      <p:pic>
        <p:nvPicPr>
          <p:cNvPr id="16" name="Image 0">
            <a:extLst>
              <a:ext uri="{FF2B5EF4-FFF2-40B4-BE49-F238E27FC236}">
                <a16:creationId xmlns:a16="http://schemas.microsoft.com/office/drawing/2014/main" id="{AE08C66E-3D6A-A5C0-E777-B97E1B60AC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3148" y="1278285"/>
            <a:ext cx="2359000" cy="2359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E1448A4-18A5-3E0C-704C-F7A9F20558DB}"/>
              </a:ext>
            </a:extLst>
          </p:cNvPr>
          <p:cNvSpPr/>
          <p:nvPr/>
        </p:nvSpPr>
        <p:spPr>
          <a:xfrm>
            <a:off x="7995684" y="4827181"/>
            <a:ext cx="1148316" cy="316319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C1A08C-327F-6C02-310F-28BD0C82C5E3}"/>
              </a:ext>
            </a:extLst>
          </p:cNvPr>
          <p:cNvSpPr txBox="1"/>
          <p:nvPr/>
        </p:nvSpPr>
        <p:spPr>
          <a:xfrm>
            <a:off x="6140180" y="3755179"/>
            <a:ext cx="2359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Supports secure digital environments, cyber defense, and real-time threat monitoring.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8ABCEF-DCCD-3A02-ED44-4F9F71474112}"/>
              </a:ext>
            </a:extLst>
          </p:cNvPr>
          <p:cNvSpPr txBox="1"/>
          <p:nvPr/>
        </p:nvSpPr>
        <p:spPr>
          <a:xfrm>
            <a:off x="548413" y="3760041"/>
            <a:ext cx="28440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Improves organizational cybersecurity resilience and protects digital business operations from cyber threats.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06AEC-2F03-40DB-B3EA-7A44C5E03B7E}"/>
              </a:ext>
            </a:extLst>
          </p:cNvPr>
          <p:cNvSpPr txBox="1"/>
          <p:nvPr/>
        </p:nvSpPr>
        <p:spPr>
          <a:xfrm>
            <a:off x="3296093" y="3760040"/>
            <a:ext cx="24554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Enhances cybersecurity infrastructure using AI-powered SIEM and intelligent monitoring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245</Words>
  <Application>Microsoft Office PowerPoint</Application>
  <PresentationFormat>On-screen Show (16:9)</PresentationFormat>
  <Paragraphs>63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DM Sans Medium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Muhammad Awais</dc:creator>
  <cp:lastModifiedBy>Mohammad Awais</cp:lastModifiedBy>
  <cp:revision>5</cp:revision>
  <dcterms:created xsi:type="dcterms:W3CDTF">2026-05-06T06:05:04Z</dcterms:created>
  <dcterms:modified xsi:type="dcterms:W3CDTF">2026-05-06T08:17:27Z</dcterms:modified>
</cp:coreProperties>
</file>